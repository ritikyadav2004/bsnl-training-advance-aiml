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6448" y="872197"/>
            <a:ext cx="7851648" cy="1828800"/>
          </a:xfrm>
        </p:spPr>
        <p:txBody>
          <a:bodyPr/>
          <a:lstStyle/>
          <a:p>
            <a:pPr algn="ctr"/>
            <a:r>
              <a:rPr>
                <a:latin typeface="Bahnschrift SemiBold Condensed" pitchFamily="34" charset="0"/>
              </a:rPr>
              <a:t>NETWORK QUALITY &amp; REVENUE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6448" y="3024553"/>
            <a:ext cx="7854696" cy="3587261"/>
          </a:xfrm>
        </p:spPr>
        <p:txBody>
          <a:bodyPr/>
          <a:lstStyle/>
          <a:p>
            <a:pPr algn="l"/>
            <a:r>
              <a:rPr>
                <a:latin typeface="Arial Black" pitchFamily="34" charset="0"/>
              </a:rPr>
              <a:t>Capstone </a:t>
            </a:r>
            <a:r>
              <a:rPr smtClean="0">
                <a:latin typeface="Arial Black" pitchFamily="34" charset="0"/>
              </a:rPr>
              <a:t>Project: </a:t>
            </a:r>
            <a:r>
              <a:rPr u="sng">
                <a:latin typeface="Arial Black" pitchFamily="34" charset="0"/>
              </a:rPr>
              <a:t>Telecom Analytics &amp; Machine </a:t>
            </a:r>
            <a:r>
              <a:rPr u="sng">
                <a:latin typeface="Arial Black" pitchFamily="34" charset="0"/>
              </a:rPr>
              <a:t>Learning </a:t>
            </a:r>
            <a:r>
              <a:rPr u="sng" smtClean="0">
                <a:latin typeface="Arial Black" pitchFamily="34" charset="0"/>
              </a:rPr>
              <a:t>Strategy</a:t>
            </a:r>
            <a:endParaRPr lang="en-US" u="sng" dirty="0" smtClean="0">
              <a:latin typeface="Arial Black" pitchFamily="34" charset="0"/>
            </a:endParaRPr>
          </a:p>
          <a:p>
            <a:pPr algn="l"/>
            <a:endParaRPr lang="en-US" dirty="0" smtClean="0"/>
          </a:p>
          <a:p>
            <a:pPr algn="l"/>
            <a:r>
              <a:rPr lang="en-US" sz="2000" dirty="0" smtClean="0"/>
              <a:t>Team Member:</a:t>
            </a:r>
          </a:p>
          <a:p>
            <a:pPr algn="l"/>
            <a:r>
              <a:rPr lang="en-US" sz="2000" dirty="0" err="1" smtClean="0"/>
              <a:t>Ankit</a:t>
            </a:r>
            <a:r>
              <a:rPr lang="en-US" sz="2000" dirty="0" smtClean="0"/>
              <a:t> Singh </a:t>
            </a:r>
            <a:r>
              <a:rPr lang="en-US" sz="2000" dirty="0" err="1" smtClean="0"/>
              <a:t>Thakur</a:t>
            </a:r>
            <a:endParaRPr lang="en-US" sz="2000" dirty="0" smtClean="0"/>
          </a:p>
          <a:p>
            <a:pPr algn="l"/>
            <a:r>
              <a:rPr lang="en-US" sz="2000" dirty="0" err="1" smtClean="0"/>
              <a:t>Mohd</a:t>
            </a:r>
            <a:r>
              <a:rPr lang="en-US" sz="2000" dirty="0" smtClean="0"/>
              <a:t>. </a:t>
            </a:r>
            <a:r>
              <a:rPr lang="en-US" sz="2000" dirty="0" err="1" smtClean="0"/>
              <a:t>Arshan</a:t>
            </a:r>
            <a:r>
              <a:rPr lang="en-US" sz="2000" dirty="0" smtClean="0"/>
              <a:t> </a:t>
            </a:r>
            <a:r>
              <a:rPr lang="en-US" sz="2000" dirty="0" err="1" smtClean="0"/>
              <a:t>Hussain</a:t>
            </a:r>
            <a:r>
              <a:rPr lang="en-US" sz="2000" dirty="0" smtClean="0"/>
              <a:t> Khan</a:t>
            </a:r>
          </a:p>
          <a:p>
            <a:pPr algn="l"/>
            <a:r>
              <a:rPr lang="en-US" sz="2000" dirty="0" err="1" smtClean="0"/>
              <a:t>Amit</a:t>
            </a:r>
            <a:r>
              <a:rPr lang="en-US" sz="2000" dirty="0" smtClean="0"/>
              <a:t> Kumar </a:t>
            </a:r>
            <a:r>
              <a:rPr lang="en-US" sz="2000" dirty="0" err="1" smtClean="0"/>
              <a:t>Sahu</a:t>
            </a:r>
            <a:endParaRPr lang="en-US" sz="2000" dirty="0" smtClean="0"/>
          </a:p>
          <a:p>
            <a:pPr algn="l"/>
            <a:r>
              <a:rPr lang="en-US" sz="2000" dirty="0" err="1" smtClean="0"/>
              <a:t>Ritik</a:t>
            </a:r>
            <a:r>
              <a:rPr lang="en-US" sz="2000" dirty="0" smtClean="0"/>
              <a:t> </a:t>
            </a:r>
            <a:r>
              <a:rPr lang="en-US" sz="2000" dirty="0" err="1" smtClean="0"/>
              <a:t>Yadav</a:t>
            </a:r>
            <a:endParaRPr lang="en-US" sz="2000" dirty="0" smtClean="0"/>
          </a:p>
          <a:p>
            <a:pPr algn="l"/>
            <a:r>
              <a:rPr lang="en-US" sz="2000" dirty="0" err="1" smtClean="0"/>
              <a:t>Sweta</a:t>
            </a:r>
            <a:r>
              <a:rPr lang="en-US" sz="2000" dirty="0" smtClean="0"/>
              <a:t> </a:t>
            </a:r>
            <a:r>
              <a:rPr lang="en-US" sz="2000" dirty="0" err="1" smtClean="0"/>
              <a:t>Koshta</a:t>
            </a:r>
            <a:endParaRPr lang="en-US" sz="2000" dirty="0" smtClean="0"/>
          </a:p>
          <a:p>
            <a:pPr algn="l"/>
            <a:endParaRPr lang="en-US" dirty="0" smtClean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12409"/>
            <a:ext cx="8229600" cy="1143000"/>
          </a:xfrm>
        </p:spPr>
        <p:txBody>
          <a:bodyPr/>
          <a:lstStyle/>
          <a:p>
            <a:pPr algn="ctr"/>
            <a:r>
              <a:rPr>
                <a:latin typeface="Arial Rounded MT Bold" pitchFamily="34" charset="0"/>
              </a:rPr>
              <a:t>1. Project 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215" y="2124222"/>
            <a:ext cx="7828671" cy="3900268"/>
          </a:xfrm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lang="en-US" sz="2400" dirty="0" smtClean="0"/>
              <a:t>Identify revenue leakage zones caused by network congestion and high latency. [cite: 1]</a:t>
            </a:r>
            <a:endParaRPr sz="2400"/>
          </a:p>
          <a:p>
            <a:pPr>
              <a:spcAft>
                <a:spcPts val="1000"/>
              </a:spcAft>
            </a:pPr>
            <a:r>
              <a:rPr sz="2400" smtClean="0"/>
              <a:t>Analyze </a:t>
            </a:r>
            <a:r>
              <a:rPr sz="2400"/>
              <a:t>the correlation between Quality of Service (QoS) and Average Revenue Per User (ARPU). [cite: 3]</a:t>
            </a:r>
          </a:p>
          <a:p>
            <a:pPr>
              <a:spcAft>
                <a:spcPts val="1000"/>
              </a:spcAft>
            </a:pPr>
            <a:r>
              <a:rPr sz="2400"/>
              <a:t>Predict regions at high risk of customer dissatisfaction and revenue decline using ML. [cite: 4, 9]</a:t>
            </a:r>
          </a:p>
          <a:p>
            <a:pPr>
              <a:spcAft>
                <a:spcPts val="1000"/>
              </a:spcAft>
            </a:pPr>
            <a:r>
              <a:rPr sz="2400"/>
              <a:t>Design an interactive visual dashboard to provide actionable insights for stakeholders. [cite: 12, 14]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1143000"/>
          </a:xfrm>
        </p:spPr>
        <p:txBody>
          <a:bodyPr/>
          <a:lstStyle/>
          <a:p>
            <a:pPr algn="ctr"/>
            <a:r>
              <a:rPr lang="en-US" b="1" dirty="0" smtClean="0">
                <a:latin typeface="Arial Rounded MT Bold" pitchFamily="34" charset="0"/>
              </a:rPr>
              <a:t>2. DATA ARCHITECTURE &amp; ETL PIPELINE</a:t>
            </a:r>
            <a:endParaRPr lang="en-US" b="1" dirty="0">
              <a:latin typeface="Arial Rounded MT 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1700"/>
            <a:ext cx="8229600" cy="3225018"/>
          </a:xfrm>
        </p:spPr>
        <p:txBody>
          <a:bodyPr wrap="square">
            <a:noAutofit/>
          </a:bodyPr>
          <a:lstStyle/>
          <a:p>
            <a:endParaRPr lang="en-US" sz="2400" dirty="0" smtClean="0"/>
          </a:p>
          <a:p>
            <a:pPr>
              <a:spcAft>
                <a:spcPts val="1000"/>
              </a:spcAft>
            </a:pPr>
            <a:r>
              <a:rPr lang="en-US" sz="2400" dirty="0" smtClean="0"/>
              <a:t>Input Sources: Integrated network_qos.csv, revenue.csv, complaints.csv, and usage.csv. [cite: 5, 14]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ETL Process: Utilized Pandas to merge all regional data into 'network_master.csv'. [cite: 6, 17]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Data Cleaning: Applied mean imputation for signal strength and latency; filled complaints with zero. [cite: 17]</a:t>
            </a:r>
          </a:p>
          <a:p>
            <a:pPr>
              <a:spcAft>
                <a:spcPts val="1000"/>
              </a:spcAft>
            </a:pPr>
            <a:r>
              <a:rPr lang="en-US" sz="2400" dirty="0" smtClean="0"/>
              <a:t>Storage: Cleaned dataset stored in </a:t>
            </a:r>
            <a:r>
              <a:rPr lang="en-US" sz="2400" dirty="0" err="1" smtClean="0"/>
              <a:t>MySQL</a:t>
            </a:r>
            <a:r>
              <a:rPr lang="en-US" sz="2400" dirty="0" smtClean="0"/>
              <a:t> database '</a:t>
            </a:r>
            <a:r>
              <a:rPr lang="en-US" sz="2400" dirty="0" err="1" smtClean="0"/>
              <a:t>network_analytics</a:t>
            </a:r>
            <a:r>
              <a:rPr lang="en-US" sz="2400" dirty="0" smtClean="0"/>
              <a:t>' for visualization. [cite: 6]</a:t>
            </a:r>
          </a:p>
          <a:p>
            <a:endParaRPr sz="240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12874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sz="4800">
                <a:latin typeface="Arial Rounded MT Bold" pitchFamily="34" charset="0"/>
              </a:rPr>
              <a:t>3. Regional Performance (EDA Highlights)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sz="2400"/>
          </a:p>
          <a:p>
            <a:pPr>
              <a:spcAft>
                <a:spcPts val="1000"/>
              </a:spcAft>
            </a:pPr>
            <a:r>
              <a:rPr sz="2400"/>
              <a:t>Top Performers: Mumbai ($400 ARPU) and Hyderabad ($380 ARPU) maintain low latency ($20-22ms). [cite: 15, 16]</a:t>
            </a:r>
          </a:p>
          <a:p>
            <a:pPr>
              <a:spcAft>
                <a:spcPts val="1000"/>
              </a:spcAft>
            </a:pPr>
            <a:r>
              <a:rPr sz="2400"/>
              <a:t>At-Risk Zones: Kolkata ($250 ARPU) and Chennai ($280 ARPU) suffer from high latency ($28-30ms). [cite: 15, 16]</a:t>
            </a:r>
          </a:p>
          <a:p>
            <a:pPr>
              <a:spcAft>
                <a:spcPts val="1000"/>
              </a:spcAft>
            </a:pPr>
            <a:r>
              <a:rPr sz="2400"/>
              <a:t>Complaint Analysis: Kolkata shows the highest risk with 150 complaints and 130 dropped calls. [cite: 17]</a:t>
            </a:r>
          </a:p>
          <a:p>
            <a:pPr>
              <a:spcAft>
                <a:spcPts val="1000"/>
              </a:spcAft>
            </a:pPr>
            <a:r>
              <a:rPr sz="2400"/>
              <a:t>Correlation: Scatter plots confirm that latency above 25ms leads to significant revenue drops. [cite: 19, 20]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9145"/>
            <a:ext cx="8229600" cy="1143000"/>
          </a:xfrm>
        </p:spPr>
        <p:txBody>
          <a:bodyPr/>
          <a:lstStyle/>
          <a:p>
            <a:pPr algn="ctr"/>
            <a:r>
              <a:rPr>
                <a:latin typeface="Arial Rounded MT Bold" pitchFamily="34" charset="0"/>
              </a:rPr>
              <a:t>4. Predictive Modeling &amp;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</a:pPr>
            <a:r>
              <a:t>Regression: Linear Regression and Decision Trees used to predict ARPU based on technical KPIs. [cite: 21]</a:t>
            </a:r>
          </a:p>
          <a:p>
            <a:pPr>
              <a:spcAft>
                <a:spcPts val="1000"/>
              </a:spcAft>
            </a:pPr>
            <a:r>
              <a:t>Classification: Decision Tree Classifier flags 'At-Risk' regions (low ARPU + high complaints). [cite: 9, 23]</a:t>
            </a:r>
          </a:p>
          <a:p>
            <a:pPr>
              <a:spcAft>
                <a:spcPts val="1000"/>
              </a:spcAft>
            </a:pPr>
            <a:r>
              <a:t>Evaluation: Models compared using R-Squared and Mean Absolute Error (MAE) for accuracy. [cite: 10, 21]</a:t>
            </a:r>
          </a:p>
          <a:p>
            <a:pPr>
              <a:spcAft>
                <a:spcPts val="1000"/>
              </a:spcAft>
            </a:pPr>
            <a:r>
              <a:t>Model Export: High-performing model saved as 'network_model.pkl' for automated deployment. [cite: 10]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latin typeface="Arial Rounded MT Bold" pitchFamily="34" charset="0"/>
              </a:rPr>
              <a:t>5. Strategic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spcAft>
                <a:spcPts val="1000"/>
              </a:spcAft>
            </a:pPr>
            <a:r>
              <a:t>Critical Threshold: Regions with latency &gt;28ms show an ARPU drop of over 20%. [cite: 25]</a:t>
            </a:r>
          </a:p>
          <a:p>
            <a:pPr>
              <a:spcAft>
                <a:spcPts val="1000"/>
              </a:spcAft>
            </a:pPr>
            <a:r>
              <a:t>Infrastructure: Prioritize Kolkata and Chennai for immediate capacity upgrades. [cite: 25]</a:t>
            </a:r>
          </a:p>
          <a:p>
            <a:pPr>
              <a:spcAft>
                <a:spcPts val="1000"/>
              </a:spcAft>
            </a:pPr>
            <a:r>
              <a:t>Marketing: Launch proactive retention offers for high-usage customers in at-risk regions. [cite: 25]</a:t>
            </a:r>
          </a:p>
          <a:p>
            <a:pPr>
              <a:spcAft>
                <a:spcPts val="1000"/>
              </a:spcAft>
            </a:pPr>
            <a:r>
              <a:t>Monitoring: Use Power BI dashboard for real-time tracking of throughput vs. ARPU. [cite: 11, 25]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610</TotalTime>
  <Words>484</Words>
  <Application>Microsoft Macintosh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Flow</vt:lpstr>
      <vt:lpstr>NETWORK QUALITY &amp; REVENUE OPTIMIZATION</vt:lpstr>
      <vt:lpstr>1. Project Objectives &amp; Scope</vt:lpstr>
      <vt:lpstr>2. DATA ARCHITECTURE &amp; ETL PIPELINE</vt:lpstr>
      <vt:lpstr>3. Regional Performance (EDA Highlights)</vt:lpstr>
      <vt:lpstr>4. Predictive Modeling &amp; AI</vt:lpstr>
      <vt:lpstr>5. Strategic Action Plan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QUALITY &amp; REVENUE OPTIMIZATION</dc:title>
  <dc:creator>Ankit Singh Thakur</dc:creator>
  <dc:description>generated using python-pptx</dc:description>
  <cp:lastModifiedBy>Win10</cp:lastModifiedBy>
  <cp:revision>5</cp:revision>
  <dcterms:created xsi:type="dcterms:W3CDTF">2013-01-27T09:14:16Z</dcterms:created>
  <dcterms:modified xsi:type="dcterms:W3CDTF">2026-03-13T04:41:28Z</dcterms:modified>
</cp:coreProperties>
</file>